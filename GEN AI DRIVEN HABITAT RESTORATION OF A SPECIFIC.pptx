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83" autoAdjust="0"/>
    <p:restoredTop sz="94660"/>
  </p:normalViewPr>
  <p:slideViewPr>
    <p:cSldViewPr snapToGrid="0">
      <p:cViewPr varScale="1">
        <p:scale>
          <a:sx n="81" d="100"/>
          <a:sy n="81" d="100"/>
        </p:scale>
        <p:origin x="71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1FB68-8C4E-3924-E693-6E96F3FF12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981EDA5-80DC-89F2-2603-E4D76D2AAF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5BABF62-50FF-7D5E-8F22-FDD8D783EF24}"/>
              </a:ext>
            </a:extLst>
          </p:cNvPr>
          <p:cNvSpPr>
            <a:spLocks noGrp="1"/>
          </p:cNvSpPr>
          <p:nvPr>
            <p:ph type="dt" sz="half" idx="10"/>
          </p:nvPr>
        </p:nvSpPr>
        <p:spPr/>
        <p:txBody>
          <a:bodyPr/>
          <a:lstStyle/>
          <a:p>
            <a:fld id="{A1C65ECD-BE49-466F-B882-6A7C03A367C2}" type="datetimeFigureOut">
              <a:rPr lang="en-IN" smtClean="0"/>
              <a:t>06-05-2025</a:t>
            </a:fld>
            <a:endParaRPr lang="en-IN"/>
          </a:p>
        </p:txBody>
      </p:sp>
      <p:sp>
        <p:nvSpPr>
          <p:cNvPr id="5" name="Footer Placeholder 4">
            <a:extLst>
              <a:ext uri="{FF2B5EF4-FFF2-40B4-BE49-F238E27FC236}">
                <a16:creationId xmlns:a16="http://schemas.microsoft.com/office/drawing/2014/main" id="{A76BD370-8FFD-632C-DED9-B0359D54A6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A789D0-74C9-6657-F5F2-B762958AC744}"/>
              </a:ext>
            </a:extLst>
          </p:cNvPr>
          <p:cNvSpPr>
            <a:spLocks noGrp="1"/>
          </p:cNvSpPr>
          <p:nvPr>
            <p:ph type="sldNum" sz="quarter" idx="12"/>
          </p:nvPr>
        </p:nvSpPr>
        <p:spPr/>
        <p:txBody>
          <a:bodyPr/>
          <a:lstStyle/>
          <a:p>
            <a:fld id="{54D412A8-7232-4BD8-9A5D-F07BAFB7BB33}" type="slidenum">
              <a:rPr lang="en-IN" smtClean="0"/>
              <a:t>‹#›</a:t>
            </a:fld>
            <a:endParaRPr lang="en-IN"/>
          </a:p>
        </p:txBody>
      </p:sp>
    </p:spTree>
    <p:extLst>
      <p:ext uri="{BB962C8B-B14F-4D97-AF65-F5344CB8AC3E}">
        <p14:creationId xmlns:p14="http://schemas.microsoft.com/office/powerpoint/2010/main" val="3012010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57E95-3D7F-DACB-24EC-C913B40980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169B8E-17FD-0749-3BEB-04DB8EC4A8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FC16F2-9146-3CB2-03EF-C9C0F4900934}"/>
              </a:ext>
            </a:extLst>
          </p:cNvPr>
          <p:cNvSpPr>
            <a:spLocks noGrp="1"/>
          </p:cNvSpPr>
          <p:nvPr>
            <p:ph type="dt" sz="half" idx="10"/>
          </p:nvPr>
        </p:nvSpPr>
        <p:spPr/>
        <p:txBody>
          <a:bodyPr/>
          <a:lstStyle/>
          <a:p>
            <a:fld id="{A1C65ECD-BE49-466F-B882-6A7C03A367C2}" type="datetimeFigureOut">
              <a:rPr lang="en-IN" smtClean="0"/>
              <a:t>06-05-2025</a:t>
            </a:fld>
            <a:endParaRPr lang="en-IN"/>
          </a:p>
        </p:txBody>
      </p:sp>
      <p:sp>
        <p:nvSpPr>
          <p:cNvPr id="5" name="Footer Placeholder 4">
            <a:extLst>
              <a:ext uri="{FF2B5EF4-FFF2-40B4-BE49-F238E27FC236}">
                <a16:creationId xmlns:a16="http://schemas.microsoft.com/office/drawing/2014/main" id="{2437A5B4-8919-41C4-F6A9-38A43988CF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AC4467-BE8B-63B0-0A8E-A976BA43498F}"/>
              </a:ext>
            </a:extLst>
          </p:cNvPr>
          <p:cNvSpPr>
            <a:spLocks noGrp="1"/>
          </p:cNvSpPr>
          <p:nvPr>
            <p:ph type="sldNum" sz="quarter" idx="12"/>
          </p:nvPr>
        </p:nvSpPr>
        <p:spPr/>
        <p:txBody>
          <a:bodyPr/>
          <a:lstStyle/>
          <a:p>
            <a:fld id="{54D412A8-7232-4BD8-9A5D-F07BAFB7BB33}" type="slidenum">
              <a:rPr lang="en-IN" smtClean="0"/>
              <a:t>‹#›</a:t>
            </a:fld>
            <a:endParaRPr lang="en-IN"/>
          </a:p>
        </p:txBody>
      </p:sp>
    </p:spTree>
    <p:extLst>
      <p:ext uri="{BB962C8B-B14F-4D97-AF65-F5344CB8AC3E}">
        <p14:creationId xmlns:p14="http://schemas.microsoft.com/office/powerpoint/2010/main" val="2325113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3C5C0-6C4F-0689-7469-4E178703F3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0D20182-0DC1-340D-5B47-9A081B3320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F8113F-1B44-EDA8-97B3-09FB1180069A}"/>
              </a:ext>
            </a:extLst>
          </p:cNvPr>
          <p:cNvSpPr>
            <a:spLocks noGrp="1"/>
          </p:cNvSpPr>
          <p:nvPr>
            <p:ph type="dt" sz="half" idx="10"/>
          </p:nvPr>
        </p:nvSpPr>
        <p:spPr/>
        <p:txBody>
          <a:bodyPr/>
          <a:lstStyle/>
          <a:p>
            <a:fld id="{A1C65ECD-BE49-466F-B882-6A7C03A367C2}" type="datetimeFigureOut">
              <a:rPr lang="en-IN" smtClean="0"/>
              <a:t>06-05-2025</a:t>
            </a:fld>
            <a:endParaRPr lang="en-IN"/>
          </a:p>
        </p:txBody>
      </p:sp>
      <p:sp>
        <p:nvSpPr>
          <p:cNvPr id="5" name="Footer Placeholder 4">
            <a:extLst>
              <a:ext uri="{FF2B5EF4-FFF2-40B4-BE49-F238E27FC236}">
                <a16:creationId xmlns:a16="http://schemas.microsoft.com/office/drawing/2014/main" id="{1C40A546-1C84-F06B-AD33-AEEA58F5DF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06682A-17F6-1EBD-BF57-810BC54870B7}"/>
              </a:ext>
            </a:extLst>
          </p:cNvPr>
          <p:cNvSpPr>
            <a:spLocks noGrp="1"/>
          </p:cNvSpPr>
          <p:nvPr>
            <p:ph type="sldNum" sz="quarter" idx="12"/>
          </p:nvPr>
        </p:nvSpPr>
        <p:spPr/>
        <p:txBody>
          <a:bodyPr/>
          <a:lstStyle/>
          <a:p>
            <a:fld id="{54D412A8-7232-4BD8-9A5D-F07BAFB7BB33}" type="slidenum">
              <a:rPr lang="en-IN" smtClean="0"/>
              <a:t>‹#›</a:t>
            </a:fld>
            <a:endParaRPr lang="en-IN"/>
          </a:p>
        </p:txBody>
      </p:sp>
    </p:spTree>
    <p:extLst>
      <p:ext uri="{BB962C8B-B14F-4D97-AF65-F5344CB8AC3E}">
        <p14:creationId xmlns:p14="http://schemas.microsoft.com/office/powerpoint/2010/main" val="3163432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FB685-CC4C-971D-F408-38D0AA9670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0793D0-CA4C-61C1-EDD7-84F24774C2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021DB68-5C7B-9468-4902-65C13F9F2D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649F042-B105-5D6F-AF74-E5D65AA87C3C}"/>
              </a:ext>
            </a:extLst>
          </p:cNvPr>
          <p:cNvSpPr>
            <a:spLocks noGrp="1"/>
          </p:cNvSpPr>
          <p:nvPr>
            <p:ph type="dt" sz="half" idx="10"/>
          </p:nvPr>
        </p:nvSpPr>
        <p:spPr/>
        <p:txBody>
          <a:bodyPr/>
          <a:lstStyle/>
          <a:p>
            <a:fld id="{A1C65ECD-BE49-466F-B882-6A7C03A367C2}" type="datetimeFigureOut">
              <a:rPr lang="en-IN" smtClean="0"/>
              <a:t>06-05-2025</a:t>
            </a:fld>
            <a:endParaRPr lang="en-IN"/>
          </a:p>
        </p:txBody>
      </p:sp>
      <p:sp>
        <p:nvSpPr>
          <p:cNvPr id="6" name="Footer Placeholder 5">
            <a:extLst>
              <a:ext uri="{FF2B5EF4-FFF2-40B4-BE49-F238E27FC236}">
                <a16:creationId xmlns:a16="http://schemas.microsoft.com/office/drawing/2014/main" id="{FFCCB4D9-191D-796A-3785-0FD7A45B18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941324-C1B3-1D53-5AC6-BACD30D8B812}"/>
              </a:ext>
            </a:extLst>
          </p:cNvPr>
          <p:cNvSpPr>
            <a:spLocks noGrp="1"/>
          </p:cNvSpPr>
          <p:nvPr>
            <p:ph type="sldNum" sz="quarter" idx="12"/>
          </p:nvPr>
        </p:nvSpPr>
        <p:spPr/>
        <p:txBody>
          <a:bodyPr/>
          <a:lstStyle/>
          <a:p>
            <a:fld id="{54D412A8-7232-4BD8-9A5D-F07BAFB7BB33}" type="slidenum">
              <a:rPr lang="en-IN" smtClean="0"/>
              <a:t>‹#›</a:t>
            </a:fld>
            <a:endParaRPr lang="en-IN"/>
          </a:p>
        </p:txBody>
      </p:sp>
    </p:spTree>
    <p:extLst>
      <p:ext uri="{BB962C8B-B14F-4D97-AF65-F5344CB8AC3E}">
        <p14:creationId xmlns:p14="http://schemas.microsoft.com/office/powerpoint/2010/main" val="1205667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EB42C-D2E8-FC2A-E562-44DB9F67A6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8A4240-03E2-C4F2-6871-BA666A0D8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0E0285-57B4-E532-FF79-573C8770EF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30F6A18-9D3C-E1CC-87AB-4B8844E2FA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DAC349-2509-3C23-4611-662AC0F382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04499F0-640D-92EF-55EF-26FD90FB1ECE}"/>
              </a:ext>
            </a:extLst>
          </p:cNvPr>
          <p:cNvSpPr>
            <a:spLocks noGrp="1"/>
          </p:cNvSpPr>
          <p:nvPr>
            <p:ph type="dt" sz="half" idx="10"/>
          </p:nvPr>
        </p:nvSpPr>
        <p:spPr/>
        <p:txBody>
          <a:bodyPr/>
          <a:lstStyle/>
          <a:p>
            <a:fld id="{A1C65ECD-BE49-466F-B882-6A7C03A367C2}" type="datetimeFigureOut">
              <a:rPr lang="en-IN" smtClean="0"/>
              <a:t>06-05-2025</a:t>
            </a:fld>
            <a:endParaRPr lang="en-IN"/>
          </a:p>
        </p:txBody>
      </p:sp>
      <p:sp>
        <p:nvSpPr>
          <p:cNvPr id="8" name="Footer Placeholder 7">
            <a:extLst>
              <a:ext uri="{FF2B5EF4-FFF2-40B4-BE49-F238E27FC236}">
                <a16:creationId xmlns:a16="http://schemas.microsoft.com/office/drawing/2014/main" id="{40A6D07C-5D40-640E-1726-6F9434CDC66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72C67C2-C378-F49F-AA85-C2C88D130DE3}"/>
              </a:ext>
            </a:extLst>
          </p:cNvPr>
          <p:cNvSpPr>
            <a:spLocks noGrp="1"/>
          </p:cNvSpPr>
          <p:nvPr>
            <p:ph type="sldNum" sz="quarter" idx="12"/>
          </p:nvPr>
        </p:nvSpPr>
        <p:spPr/>
        <p:txBody>
          <a:bodyPr/>
          <a:lstStyle/>
          <a:p>
            <a:fld id="{54D412A8-7232-4BD8-9A5D-F07BAFB7BB33}" type="slidenum">
              <a:rPr lang="en-IN" smtClean="0"/>
              <a:t>‹#›</a:t>
            </a:fld>
            <a:endParaRPr lang="en-IN"/>
          </a:p>
        </p:txBody>
      </p:sp>
    </p:spTree>
    <p:extLst>
      <p:ext uri="{BB962C8B-B14F-4D97-AF65-F5344CB8AC3E}">
        <p14:creationId xmlns:p14="http://schemas.microsoft.com/office/powerpoint/2010/main" val="150210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FAB8F-1BEC-A5C1-55D5-CF63A8CFE47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81DF51F-2AC3-BBCD-0C33-FFE033EC2133}"/>
              </a:ext>
            </a:extLst>
          </p:cNvPr>
          <p:cNvSpPr>
            <a:spLocks noGrp="1"/>
          </p:cNvSpPr>
          <p:nvPr>
            <p:ph type="dt" sz="half" idx="10"/>
          </p:nvPr>
        </p:nvSpPr>
        <p:spPr/>
        <p:txBody>
          <a:bodyPr/>
          <a:lstStyle/>
          <a:p>
            <a:fld id="{A1C65ECD-BE49-466F-B882-6A7C03A367C2}" type="datetimeFigureOut">
              <a:rPr lang="en-IN" smtClean="0"/>
              <a:t>06-05-2025</a:t>
            </a:fld>
            <a:endParaRPr lang="en-IN"/>
          </a:p>
        </p:txBody>
      </p:sp>
      <p:sp>
        <p:nvSpPr>
          <p:cNvPr id="4" name="Footer Placeholder 3">
            <a:extLst>
              <a:ext uri="{FF2B5EF4-FFF2-40B4-BE49-F238E27FC236}">
                <a16:creationId xmlns:a16="http://schemas.microsoft.com/office/drawing/2014/main" id="{66595F6B-8B73-B2DF-F197-F762936828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867673C-23CE-A5AC-6218-227F5EEC5EF1}"/>
              </a:ext>
            </a:extLst>
          </p:cNvPr>
          <p:cNvSpPr>
            <a:spLocks noGrp="1"/>
          </p:cNvSpPr>
          <p:nvPr>
            <p:ph type="sldNum" sz="quarter" idx="12"/>
          </p:nvPr>
        </p:nvSpPr>
        <p:spPr/>
        <p:txBody>
          <a:bodyPr/>
          <a:lstStyle/>
          <a:p>
            <a:fld id="{54D412A8-7232-4BD8-9A5D-F07BAFB7BB33}" type="slidenum">
              <a:rPr lang="en-IN" smtClean="0"/>
              <a:t>‹#›</a:t>
            </a:fld>
            <a:endParaRPr lang="en-IN"/>
          </a:p>
        </p:txBody>
      </p:sp>
    </p:spTree>
    <p:extLst>
      <p:ext uri="{BB962C8B-B14F-4D97-AF65-F5344CB8AC3E}">
        <p14:creationId xmlns:p14="http://schemas.microsoft.com/office/powerpoint/2010/main" val="4258855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B68010-A630-3345-245B-0ECAA944641B}"/>
              </a:ext>
            </a:extLst>
          </p:cNvPr>
          <p:cNvSpPr>
            <a:spLocks noGrp="1"/>
          </p:cNvSpPr>
          <p:nvPr>
            <p:ph type="dt" sz="half" idx="10"/>
          </p:nvPr>
        </p:nvSpPr>
        <p:spPr/>
        <p:txBody>
          <a:bodyPr/>
          <a:lstStyle/>
          <a:p>
            <a:fld id="{A1C65ECD-BE49-466F-B882-6A7C03A367C2}" type="datetimeFigureOut">
              <a:rPr lang="en-IN" smtClean="0"/>
              <a:t>06-05-2025</a:t>
            </a:fld>
            <a:endParaRPr lang="en-IN"/>
          </a:p>
        </p:txBody>
      </p:sp>
      <p:sp>
        <p:nvSpPr>
          <p:cNvPr id="3" name="Footer Placeholder 2">
            <a:extLst>
              <a:ext uri="{FF2B5EF4-FFF2-40B4-BE49-F238E27FC236}">
                <a16:creationId xmlns:a16="http://schemas.microsoft.com/office/drawing/2014/main" id="{5317C1E5-D1C6-712D-434C-9D9CEDFC8FA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A22BA2D-F4FE-3AF5-36AD-E584A0898C72}"/>
              </a:ext>
            </a:extLst>
          </p:cNvPr>
          <p:cNvSpPr>
            <a:spLocks noGrp="1"/>
          </p:cNvSpPr>
          <p:nvPr>
            <p:ph type="sldNum" sz="quarter" idx="12"/>
          </p:nvPr>
        </p:nvSpPr>
        <p:spPr/>
        <p:txBody>
          <a:bodyPr/>
          <a:lstStyle/>
          <a:p>
            <a:fld id="{54D412A8-7232-4BD8-9A5D-F07BAFB7BB33}" type="slidenum">
              <a:rPr lang="en-IN" smtClean="0"/>
              <a:t>‹#›</a:t>
            </a:fld>
            <a:endParaRPr lang="en-IN"/>
          </a:p>
        </p:txBody>
      </p:sp>
    </p:spTree>
    <p:extLst>
      <p:ext uri="{BB962C8B-B14F-4D97-AF65-F5344CB8AC3E}">
        <p14:creationId xmlns:p14="http://schemas.microsoft.com/office/powerpoint/2010/main" val="2055456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61EE3-743C-D4A8-7AA5-D1B1E3215B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13C71EF-FE4A-9C59-A84C-0CEBDDD642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B768F48-727F-F733-CD4A-B80AAAA651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829951-B6B4-9F12-0232-640847ED63BA}"/>
              </a:ext>
            </a:extLst>
          </p:cNvPr>
          <p:cNvSpPr>
            <a:spLocks noGrp="1"/>
          </p:cNvSpPr>
          <p:nvPr>
            <p:ph type="dt" sz="half" idx="10"/>
          </p:nvPr>
        </p:nvSpPr>
        <p:spPr/>
        <p:txBody>
          <a:bodyPr/>
          <a:lstStyle/>
          <a:p>
            <a:fld id="{A1C65ECD-BE49-466F-B882-6A7C03A367C2}" type="datetimeFigureOut">
              <a:rPr lang="en-IN" smtClean="0"/>
              <a:t>06-05-2025</a:t>
            </a:fld>
            <a:endParaRPr lang="en-IN"/>
          </a:p>
        </p:txBody>
      </p:sp>
      <p:sp>
        <p:nvSpPr>
          <p:cNvPr id="6" name="Footer Placeholder 5">
            <a:extLst>
              <a:ext uri="{FF2B5EF4-FFF2-40B4-BE49-F238E27FC236}">
                <a16:creationId xmlns:a16="http://schemas.microsoft.com/office/drawing/2014/main" id="{FF184CC3-E9E8-C7B2-2596-64673314A5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1D1823-5313-1546-7478-7BCA8BC2D711}"/>
              </a:ext>
            </a:extLst>
          </p:cNvPr>
          <p:cNvSpPr>
            <a:spLocks noGrp="1"/>
          </p:cNvSpPr>
          <p:nvPr>
            <p:ph type="sldNum" sz="quarter" idx="12"/>
          </p:nvPr>
        </p:nvSpPr>
        <p:spPr/>
        <p:txBody>
          <a:bodyPr/>
          <a:lstStyle/>
          <a:p>
            <a:fld id="{54D412A8-7232-4BD8-9A5D-F07BAFB7BB33}" type="slidenum">
              <a:rPr lang="en-IN" smtClean="0"/>
              <a:t>‹#›</a:t>
            </a:fld>
            <a:endParaRPr lang="en-IN"/>
          </a:p>
        </p:txBody>
      </p:sp>
    </p:spTree>
    <p:extLst>
      <p:ext uri="{BB962C8B-B14F-4D97-AF65-F5344CB8AC3E}">
        <p14:creationId xmlns:p14="http://schemas.microsoft.com/office/powerpoint/2010/main" val="1647893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16536-5F98-4ABC-50F7-6D68DA8E0A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4F4CC72-B962-DF37-C125-DF5643B6FA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8A3833F-97DB-C59D-99B9-AC498F46AD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78D0BF-ACB3-B996-A334-61D98E15C8B7}"/>
              </a:ext>
            </a:extLst>
          </p:cNvPr>
          <p:cNvSpPr>
            <a:spLocks noGrp="1"/>
          </p:cNvSpPr>
          <p:nvPr>
            <p:ph type="dt" sz="half" idx="10"/>
          </p:nvPr>
        </p:nvSpPr>
        <p:spPr/>
        <p:txBody>
          <a:bodyPr/>
          <a:lstStyle/>
          <a:p>
            <a:fld id="{A1C65ECD-BE49-466F-B882-6A7C03A367C2}" type="datetimeFigureOut">
              <a:rPr lang="en-IN" smtClean="0"/>
              <a:t>06-05-2025</a:t>
            </a:fld>
            <a:endParaRPr lang="en-IN"/>
          </a:p>
        </p:txBody>
      </p:sp>
      <p:sp>
        <p:nvSpPr>
          <p:cNvPr id="6" name="Footer Placeholder 5">
            <a:extLst>
              <a:ext uri="{FF2B5EF4-FFF2-40B4-BE49-F238E27FC236}">
                <a16:creationId xmlns:a16="http://schemas.microsoft.com/office/drawing/2014/main" id="{CA6E005D-DA73-52FF-4F13-A9669577CF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6C699E-8561-E9B2-15CC-F2605E48318B}"/>
              </a:ext>
            </a:extLst>
          </p:cNvPr>
          <p:cNvSpPr>
            <a:spLocks noGrp="1"/>
          </p:cNvSpPr>
          <p:nvPr>
            <p:ph type="sldNum" sz="quarter" idx="12"/>
          </p:nvPr>
        </p:nvSpPr>
        <p:spPr/>
        <p:txBody>
          <a:bodyPr/>
          <a:lstStyle/>
          <a:p>
            <a:fld id="{54D412A8-7232-4BD8-9A5D-F07BAFB7BB33}" type="slidenum">
              <a:rPr lang="en-IN" smtClean="0"/>
              <a:t>‹#›</a:t>
            </a:fld>
            <a:endParaRPr lang="en-IN"/>
          </a:p>
        </p:txBody>
      </p:sp>
    </p:spTree>
    <p:extLst>
      <p:ext uri="{BB962C8B-B14F-4D97-AF65-F5344CB8AC3E}">
        <p14:creationId xmlns:p14="http://schemas.microsoft.com/office/powerpoint/2010/main" val="1040068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C1777-0186-EB62-596B-A092728B98E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995D9A-7405-91ED-B167-219DFB3EC1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13A9F1-7686-128C-50C9-8003B4E85889}"/>
              </a:ext>
            </a:extLst>
          </p:cNvPr>
          <p:cNvSpPr>
            <a:spLocks noGrp="1"/>
          </p:cNvSpPr>
          <p:nvPr>
            <p:ph type="dt" sz="half" idx="10"/>
          </p:nvPr>
        </p:nvSpPr>
        <p:spPr/>
        <p:txBody>
          <a:bodyPr/>
          <a:lstStyle/>
          <a:p>
            <a:fld id="{A1C65ECD-BE49-466F-B882-6A7C03A367C2}" type="datetimeFigureOut">
              <a:rPr lang="en-IN" smtClean="0"/>
              <a:t>06-05-2025</a:t>
            </a:fld>
            <a:endParaRPr lang="en-IN"/>
          </a:p>
        </p:txBody>
      </p:sp>
      <p:sp>
        <p:nvSpPr>
          <p:cNvPr id="5" name="Footer Placeholder 4">
            <a:extLst>
              <a:ext uri="{FF2B5EF4-FFF2-40B4-BE49-F238E27FC236}">
                <a16:creationId xmlns:a16="http://schemas.microsoft.com/office/drawing/2014/main" id="{B3561B00-621F-C6DD-5D83-EF1268A07B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066301-DE7F-7513-A670-88C9ED88B4ED}"/>
              </a:ext>
            </a:extLst>
          </p:cNvPr>
          <p:cNvSpPr>
            <a:spLocks noGrp="1"/>
          </p:cNvSpPr>
          <p:nvPr>
            <p:ph type="sldNum" sz="quarter" idx="12"/>
          </p:nvPr>
        </p:nvSpPr>
        <p:spPr/>
        <p:txBody>
          <a:bodyPr/>
          <a:lstStyle/>
          <a:p>
            <a:fld id="{54D412A8-7232-4BD8-9A5D-F07BAFB7BB33}" type="slidenum">
              <a:rPr lang="en-IN" smtClean="0"/>
              <a:t>‹#›</a:t>
            </a:fld>
            <a:endParaRPr lang="en-IN"/>
          </a:p>
        </p:txBody>
      </p:sp>
    </p:spTree>
    <p:extLst>
      <p:ext uri="{BB962C8B-B14F-4D97-AF65-F5344CB8AC3E}">
        <p14:creationId xmlns:p14="http://schemas.microsoft.com/office/powerpoint/2010/main" val="983190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F0578F-B307-0CF4-53F4-6A46995295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A44019-1484-E1DB-1B0B-36AFAF5B98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9AA00F-2771-B43E-F654-2FC1B605C189}"/>
              </a:ext>
            </a:extLst>
          </p:cNvPr>
          <p:cNvSpPr>
            <a:spLocks noGrp="1"/>
          </p:cNvSpPr>
          <p:nvPr>
            <p:ph type="dt" sz="half" idx="10"/>
          </p:nvPr>
        </p:nvSpPr>
        <p:spPr/>
        <p:txBody>
          <a:bodyPr/>
          <a:lstStyle/>
          <a:p>
            <a:fld id="{A1C65ECD-BE49-466F-B882-6A7C03A367C2}" type="datetimeFigureOut">
              <a:rPr lang="en-IN" smtClean="0"/>
              <a:t>06-05-2025</a:t>
            </a:fld>
            <a:endParaRPr lang="en-IN"/>
          </a:p>
        </p:txBody>
      </p:sp>
      <p:sp>
        <p:nvSpPr>
          <p:cNvPr id="5" name="Footer Placeholder 4">
            <a:extLst>
              <a:ext uri="{FF2B5EF4-FFF2-40B4-BE49-F238E27FC236}">
                <a16:creationId xmlns:a16="http://schemas.microsoft.com/office/drawing/2014/main" id="{5B41E21F-0A16-0151-A9BC-933BAC955F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48E5CC-CECF-9869-EA8E-C646901D4949}"/>
              </a:ext>
            </a:extLst>
          </p:cNvPr>
          <p:cNvSpPr>
            <a:spLocks noGrp="1"/>
          </p:cNvSpPr>
          <p:nvPr>
            <p:ph type="sldNum" sz="quarter" idx="12"/>
          </p:nvPr>
        </p:nvSpPr>
        <p:spPr/>
        <p:txBody>
          <a:bodyPr/>
          <a:lstStyle/>
          <a:p>
            <a:fld id="{54D412A8-7232-4BD8-9A5D-F07BAFB7BB33}" type="slidenum">
              <a:rPr lang="en-IN" smtClean="0"/>
              <a:t>‹#›</a:t>
            </a:fld>
            <a:endParaRPr lang="en-IN"/>
          </a:p>
        </p:txBody>
      </p:sp>
    </p:spTree>
    <p:extLst>
      <p:ext uri="{BB962C8B-B14F-4D97-AF65-F5344CB8AC3E}">
        <p14:creationId xmlns:p14="http://schemas.microsoft.com/office/powerpoint/2010/main" val="1874573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F68B20-1FA4-677B-C7F2-B20B9775A4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139482-AB1D-E2B0-D53F-B0288BE983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6B2F77-B0DE-5DC1-0E1F-05F6433CBC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C65ECD-BE49-466F-B882-6A7C03A367C2}" type="datetimeFigureOut">
              <a:rPr lang="en-IN" smtClean="0"/>
              <a:t>06-05-2025</a:t>
            </a:fld>
            <a:endParaRPr lang="en-IN"/>
          </a:p>
        </p:txBody>
      </p:sp>
      <p:sp>
        <p:nvSpPr>
          <p:cNvPr id="5" name="Footer Placeholder 4">
            <a:extLst>
              <a:ext uri="{FF2B5EF4-FFF2-40B4-BE49-F238E27FC236}">
                <a16:creationId xmlns:a16="http://schemas.microsoft.com/office/drawing/2014/main" id="{73795935-154D-88AA-963C-03434A720E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8184C6F-1577-C0A5-747C-93EB76F779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D412A8-7232-4BD8-9A5D-F07BAFB7BB33}" type="slidenum">
              <a:rPr lang="en-IN" smtClean="0"/>
              <a:t>‹#›</a:t>
            </a:fld>
            <a:endParaRPr lang="en-IN"/>
          </a:p>
        </p:txBody>
      </p:sp>
    </p:spTree>
    <p:extLst>
      <p:ext uri="{BB962C8B-B14F-4D97-AF65-F5344CB8AC3E}">
        <p14:creationId xmlns:p14="http://schemas.microsoft.com/office/powerpoint/2010/main" val="387418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E0B7D-6E22-EB39-F469-341085C575B5}"/>
              </a:ext>
            </a:extLst>
          </p:cNvPr>
          <p:cNvSpPr>
            <a:spLocks noGrp="1"/>
          </p:cNvSpPr>
          <p:nvPr>
            <p:ph type="ctrTitle"/>
          </p:nvPr>
        </p:nvSpPr>
        <p:spPr/>
        <p:txBody>
          <a:bodyPr>
            <a:normAutofit/>
          </a:bodyPr>
          <a:lstStyle/>
          <a:p>
            <a:r>
              <a:rPr lang="en-IN" sz="5400" b="1" dirty="0"/>
              <a:t>GEN AI DRIVEN HABITAT RESTORATION OF A SPECIFIC REGION (Madagascar)</a:t>
            </a:r>
          </a:p>
        </p:txBody>
      </p:sp>
      <p:sp>
        <p:nvSpPr>
          <p:cNvPr id="5" name="Subtitle 4">
            <a:extLst>
              <a:ext uri="{FF2B5EF4-FFF2-40B4-BE49-F238E27FC236}">
                <a16:creationId xmlns:a16="http://schemas.microsoft.com/office/drawing/2014/main" id="{D3F2C871-CC37-B442-DBB3-00D590870133}"/>
              </a:ext>
            </a:extLst>
          </p:cNvPr>
          <p:cNvSpPr>
            <a:spLocks noGrp="1"/>
          </p:cNvSpPr>
          <p:nvPr>
            <p:ph type="subTitle" idx="1"/>
          </p:nvPr>
        </p:nvSpPr>
        <p:spPr>
          <a:xfrm>
            <a:off x="160256" y="3629320"/>
            <a:ext cx="11830639" cy="2712563"/>
          </a:xfrm>
        </p:spPr>
        <p:txBody>
          <a:bodyPr/>
          <a:lstStyle/>
          <a:p>
            <a:pPr algn="l"/>
            <a:r>
              <a:rPr lang="en-IN" dirty="0"/>
              <a:t>SUBMITTED BY:                             			GUIDED BY:</a:t>
            </a:r>
          </a:p>
          <a:p>
            <a:pPr algn="l"/>
            <a:r>
              <a:rPr lang="en-IN" dirty="0"/>
              <a:t>	K. LOGAVARSHINI                                                            	T. VENKATESH</a:t>
            </a:r>
          </a:p>
          <a:p>
            <a:pPr algn="l"/>
            <a:r>
              <a:rPr lang="en-IN" dirty="0"/>
              <a:t>	126179023						School of Electrical and </a:t>
            </a:r>
          </a:p>
          <a:p>
            <a:pPr algn="l"/>
            <a:r>
              <a:rPr lang="en-IN" dirty="0"/>
              <a:t>	</a:t>
            </a:r>
            <a:r>
              <a:rPr lang="en-IN" dirty="0" err="1"/>
              <a:t>B.Tech</a:t>
            </a:r>
            <a:r>
              <a:rPr lang="en-IN" dirty="0"/>
              <a:t>-Robotics and Artificial Intelligence                   Electronics Engineering</a:t>
            </a:r>
          </a:p>
          <a:p>
            <a:pPr algn="l"/>
            <a:r>
              <a:rPr lang="en-IN" dirty="0"/>
              <a:t>								SASTRA Deemed University, </a:t>
            </a:r>
          </a:p>
        </p:txBody>
      </p:sp>
    </p:spTree>
    <p:extLst>
      <p:ext uri="{BB962C8B-B14F-4D97-AF65-F5344CB8AC3E}">
        <p14:creationId xmlns:p14="http://schemas.microsoft.com/office/powerpoint/2010/main" val="2473511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B4394-AAFF-9D45-26DD-E8353F121406}"/>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INTRODUCTIO</a:t>
            </a:r>
            <a:r>
              <a:rPr lang="en-IN" b="1" dirty="0"/>
              <a:t>N</a:t>
            </a:r>
          </a:p>
        </p:txBody>
      </p:sp>
      <p:sp>
        <p:nvSpPr>
          <p:cNvPr id="3" name="Content Placeholder 2">
            <a:extLst>
              <a:ext uri="{FF2B5EF4-FFF2-40B4-BE49-F238E27FC236}">
                <a16:creationId xmlns:a16="http://schemas.microsoft.com/office/drawing/2014/main" id="{72E52853-69BB-E483-742E-A55E4814D246}"/>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Ecosystems around the world are under pressure due to deforestation, climate change, and unsustainable land use.</a:t>
            </a:r>
          </a:p>
          <a:p>
            <a:r>
              <a:rPr lang="en-US" dirty="0">
                <a:latin typeface="Times New Roman" panose="02020603050405020304" pitchFamily="18" charset="0"/>
                <a:cs typeface="Times New Roman" panose="02020603050405020304" pitchFamily="18" charset="0"/>
              </a:rPr>
              <a:t>Habitat restoration is critical for biodiversity conservation, carbon sequestration and sustainable development.</a:t>
            </a:r>
          </a:p>
          <a:p>
            <a:r>
              <a:rPr lang="en-US" b="1" dirty="0">
                <a:latin typeface="Times New Roman" panose="02020603050405020304" pitchFamily="18" charset="0"/>
                <a:cs typeface="Times New Roman" panose="02020603050405020304" pitchFamily="18" charset="0"/>
              </a:rPr>
              <a:t>Generative AI (GenAI)</a:t>
            </a:r>
            <a:r>
              <a:rPr lang="en-US" dirty="0">
                <a:latin typeface="Times New Roman" panose="02020603050405020304" pitchFamily="18" charset="0"/>
                <a:cs typeface="Times New Roman" panose="02020603050405020304" pitchFamily="18" charset="0"/>
              </a:rPr>
              <a:t> can offer data-driven insights and simulate restoration scenarios with high spatial precision.</a:t>
            </a:r>
          </a:p>
          <a:p>
            <a:endParaRPr lang="en-US" dirty="0"/>
          </a:p>
          <a:p>
            <a:endParaRPr lang="en-IN" dirty="0"/>
          </a:p>
        </p:txBody>
      </p:sp>
    </p:spTree>
    <p:extLst>
      <p:ext uri="{BB962C8B-B14F-4D97-AF65-F5344CB8AC3E}">
        <p14:creationId xmlns:p14="http://schemas.microsoft.com/office/powerpoint/2010/main" val="795058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2A15B-7EE8-B26D-3CE0-879DC4933D5D}"/>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MOTIVATION</a:t>
            </a:r>
          </a:p>
        </p:txBody>
      </p:sp>
      <p:sp>
        <p:nvSpPr>
          <p:cNvPr id="3" name="Content Placeholder 2">
            <a:extLst>
              <a:ext uri="{FF2B5EF4-FFF2-40B4-BE49-F238E27FC236}">
                <a16:creationId xmlns:a16="http://schemas.microsoft.com/office/drawing/2014/main" id="{8BE5E8D6-A6CC-E211-CB7C-C5DC74B2E3E9}"/>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Scalability &amp; automation</a:t>
            </a:r>
            <a:r>
              <a:rPr lang="en-US" dirty="0">
                <a:latin typeface="Times New Roman" panose="02020603050405020304" pitchFamily="18" charset="0"/>
                <a:cs typeface="Times New Roman" panose="02020603050405020304" pitchFamily="18" charset="0"/>
              </a:rPr>
              <a:t>: Manual restoration planning is slow and resource-intensive.</a:t>
            </a:r>
          </a:p>
          <a:p>
            <a:r>
              <a:rPr lang="en-US" b="1" dirty="0">
                <a:latin typeface="Times New Roman" panose="02020603050405020304" pitchFamily="18" charset="0"/>
                <a:cs typeface="Times New Roman" panose="02020603050405020304" pitchFamily="18" charset="0"/>
              </a:rPr>
              <a:t>GenAI opportunity</a:t>
            </a:r>
            <a:r>
              <a:rPr lang="en-US" dirty="0">
                <a:latin typeface="Times New Roman" panose="02020603050405020304" pitchFamily="18" charset="0"/>
                <a:cs typeface="Times New Roman" panose="02020603050405020304" pitchFamily="18" charset="0"/>
              </a:rPr>
              <a:t>: Recent advances in GANs and image-to-image translation can help generate restoration maps from degraded inputs using learned patterns.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6136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7456E-DAAF-17A0-6E0B-BAB2600DD949}"/>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2D7EAC32-4E94-65A2-37F3-013F26C53495}"/>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To develop a </a:t>
            </a:r>
            <a:r>
              <a:rPr lang="en-US" b="1" dirty="0">
                <a:latin typeface="Times New Roman" panose="02020603050405020304" pitchFamily="18" charset="0"/>
                <a:cs typeface="Times New Roman" panose="02020603050405020304" pitchFamily="18" charset="0"/>
              </a:rPr>
              <a:t>GenAI-based framework</a:t>
            </a:r>
            <a:r>
              <a:rPr lang="en-US" dirty="0">
                <a:latin typeface="Times New Roman" panose="02020603050405020304" pitchFamily="18" charset="0"/>
                <a:cs typeface="Times New Roman" panose="02020603050405020304" pitchFamily="18" charset="0"/>
              </a:rPr>
              <a:t> for habitat restoration using multi-channel geospatial data.</a:t>
            </a:r>
          </a:p>
          <a:p>
            <a:r>
              <a:rPr lang="en-US" dirty="0">
                <a:latin typeface="Times New Roman" panose="02020603050405020304" pitchFamily="18" charset="0"/>
                <a:cs typeface="Times New Roman" panose="02020603050405020304" pitchFamily="18" charset="0"/>
              </a:rPr>
              <a:t>Use </a:t>
            </a:r>
            <a:r>
              <a:rPr lang="en-US" b="1" dirty="0">
                <a:latin typeface="Times New Roman" panose="02020603050405020304" pitchFamily="18" charset="0"/>
                <a:cs typeface="Times New Roman" panose="02020603050405020304" pitchFamily="18" charset="0"/>
              </a:rPr>
              <a:t>Pix2Pix GAN architecture</a:t>
            </a:r>
            <a:r>
              <a:rPr lang="en-US" dirty="0">
                <a:latin typeface="Times New Roman" panose="02020603050405020304" pitchFamily="18" charset="0"/>
                <a:cs typeface="Times New Roman" panose="02020603050405020304" pitchFamily="18" charset="0"/>
              </a:rPr>
              <a:t> to learn relationships between environmental indicators and restoration targets.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8910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6C547-BDD7-7846-390A-2B0537902496}"/>
              </a:ext>
            </a:extLst>
          </p:cNvPr>
          <p:cNvSpPr>
            <a:spLocks noGrp="1"/>
          </p:cNvSpPr>
          <p:nvPr>
            <p:ph type="title"/>
          </p:nvPr>
        </p:nvSpPr>
        <p:spPr>
          <a:xfrm>
            <a:off x="838200" y="91748"/>
            <a:ext cx="10515600" cy="1192490"/>
          </a:xfrm>
        </p:spPr>
        <p:txBody>
          <a:bodyPr/>
          <a:lstStyle/>
          <a:p>
            <a:pPr algn="ctr"/>
            <a:r>
              <a:rPr lang="en-IN" b="1" dirty="0">
                <a:latin typeface="Times New Roman" panose="02020603050405020304" pitchFamily="18" charset="0"/>
                <a:cs typeface="Times New Roman" panose="02020603050405020304" pitchFamily="18" charset="0"/>
              </a:rPr>
              <a:t>DATASETS</a:t>
            </a:r>
          </a:p>
        </p:txBody>
      </p:sp>
      <p:sp>
        <p:nvSpPr>
          <p:cNvPr id="3" name="Content Placeholder 2">
            <a:extLst>
              <a:ext uri="{FF2B5EF4-FFF2-40B4-BE49-F238E27FC236}">
                <a16:creationId xmlns:a16="http://schemas.microsoft.com/office/drawing/2014/main" id="{F29CB89C-34B9-2A2E-22D5-DA64A4906E0D}"/>
              </a:ext>
            </a:extLst>
          </p:cNvPr>
          <p:cNvSpPr>
            <a:spLocks noGrp="1"/>
          </p:cNvSpPr>
          <p:nvPr>
            <p:ph idx="1"/>
          </p:nvPr>
        </p:nvSpPr>
        <p:spPr>
          <a:xfrm>
            <a:off x="113122" y="980388"/>
            <a:ext cx="11792932" cy="5877611"/>
          </a:xfrm>
        </p:spPr>
        <p:txBody>
          <a:bodyPr anchor="ctr">
            <a:normAutofit/>
          </a:bodyPr>
          <a:lstStyle/>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3657600" lvl="8" indent="0">
              <a:buNone/>
            </a:pPr>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AF48F93-726E-409E-79FC-78ADDAF6A8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1994" y="1718968"/>
            <a:ext cx="2051754" cy="2051754"/>
          </a:xfrm>
          <a:prstGeom prst="rect">
            <a:avLst/>
          </a:prstGeom>
        </p:spPr>
      </p:pic>
      <p:pic>
        <p:nvPicPr>
          <p:cNvPr id="7" name="Picture 6">
            <a:extLst>
              <a:ext uri="{FF2B5EF4-FFF2-40B4-BE49-F238E27FC236}">
                <a16:creationId xmlns:a16="http://schemas.microsoft.com/office/drawing/2014/main" id="{88216F77-9CC4-048C-DE2D-0616ABCDA8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6238" y="1718968"/>
            <a:ext cx="2051754" cy="2051754"/>
          </a:xfrm>
          <a:prstGeom prst="rect">
            <a:avLst/>
          </a:prstGeom>
        </p:spPr>
      </p:pic>
      <p:pic>
        <p:nvPicPr>
          <p:cNvPr id="9" name="Picture 8">
            <a:extLst>
              <a:ext uri="{FF2B5EF4-FFF2-40B4-BE49-F238E27FC236}">
                <a16:creationId xmlns:a16="http://schemas.microsoft.com/office/drawing/2014/main" id="{36E5B34F-D246-FE38-153A-BA86B7FF15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45485" y="1662407"/>
            <a:ext cx="2108315" cy="2108315"/>
          </a:xfrm>
          <a:prstGeom prst="rect">
            <a:avLst/>
          </a:prstGeom>
        </p:spPr>
      </p:pic>
      <p:pic>
        <p:nvPicPr>
          <p:cNvPr id="11" name="Picture 10">
            <a:extLst>
              <a:ext uri="{FF2B5EF4-FFF2-40B4-BE49-F238E27FC236}">
                <a16:creationId xmlns:a16="http://schemas.microsoft.com/office/drawing/2014/main" id="{27D45683-93D2-FDB5-1F97-F245774122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42035" y="4177171"/>
            <a:ext cx="2108315" cy="2108315"/>
          </a:xfrm>
          <a:prstGeom prst="rect">
            <a:avLst/>
          </a:prstGeom>
        </p:spPr>
      </p:pic>
      <p:pic>
        <p:nvPicPr>
          <p:cNvPr id="13" name="Picture 12">
            <a:extLst>
              <a:ext uri="{FF2B5EF4-FFF2-40B4-BE49-F238E27FC236}">
                <a16:creationId xmlns:a16="http://schemas.microsoft.com/office/drawing/2014/main" id="{AFA938DF-25E9-5765-487B-57022438DF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67992" y="4205452"/>
            <a:ext cx="2108315" cy="2108315"/>
          </a:xfrm>
          <a:prstGeom prst="rect">
            <a:avLst/>
          </a:prstGeom>
        </p:spPr>
      </p:pic>
      <p:sp>
        <p:nvSpPr>
          <p:cNvPr id="14" name="TextBox 13">
            <a:extLst>
              <a:ext uri="{FF2B5EF4-FFF2-40B4-BE49-F238E27FC236}">
                <a16:creationId xmlns:a16="http://schemas.microsoft.com/office/drawing/2014/main" id="{86A689D6-1E7B-7CA9-815C-45354932329F}"/>
              </a:ext>
            </a:extLst>
          </p:cNvPr>
          <p:cNvSpPr txBox="1"/>
          <p:nvPr/>
        </p:nvSpPr>
        <p:spPr>
          <a:xfrm>
            <a:off x="285945" y="1127853"/>
            <a:ext cx="6020587" cy="461665"/>
          </a:xfrm>
          <a:prstGeom prst="rect">
            <a:avLst/>
          </a:prstGeom>
          <a:noFill/>
        </p:spPr>
        <p:txBody>
          <a:bodyPr wrap="square" rtlCol="0">
            <a:spAutoFit/>
          </a:bodyPr>
          <a:lstStyle/>
          <a:p>
            <a:r>
              <a:rPr lang="en-IN" sz="2400" dirty="0"/>
              <a:t>5 DATASETS FROM GOOGLE EARTH ENGINE</a:t>
            </a:r>
          </a:p>
        </p:txBody>
      </p:sp>
      <p:sp>
        <p:nvSpPr>
          <p:cNvPr id="15" name="TextBox 14">
            <a:extLst>
              <a:ext uri="{FF2B5EF4-FFF2-40B4-BE49-F238E27FC236}">
                <a16:creationId xmlns:a16="http://schemas.microsoft.com/office/drawing/2014/main" id="{949F9BB2-6AF3-428E-F756-1D09AA44DD09}"/>
              </a:ext>
            </a:extLst>
          </p:cNvPr>
          <p:cNvSpPr txBox="1"/>
          <p:nvPr/>
        </p:nvSpPr>
        <p:spPr>
          <a:xfrm>
            <a:off x="9245485" y="3789576"/>
            <a:ext cx="2443752" cy="307777"/>
          </a:xfrm>
          <a:prstGeom prst="rect">
            <a:avLst/>
          </a:prstGeom>
          <a:noFill/>
        </p:spPr>
        <p:txBody>
          <a:bodyPr wrap="square" rtlCol="0">
            <a:spAutoFit/>
          </a:bodyPr>
          <a:lstStyle/>
          <a:p>
            <a:pPr algn="ctr"/>
            <a:r>
              <a:rPr lang="en-IN" sz="1400" dirty="0"/>
              <a:t>MEAN TEMPERATURE</a:t>
            </a:r>
          </a:p>
        </p:txBody>
      </p:sp>
      <p:sp>
        <p:nvSpPr>
          <p:cNvPr id="16" name="TextBox 15">
            <a:extLst>
              <a:ext uri="{FF2B5EF4-FFF2-40B4-BE49-F238E27FC236}">
                <a16:creationId xmlns:a16="http://schemas.microsoft.com/office/drawing/2014/main" id="{48B14D9C-B78B-E9D1-E1CA-2F4D79BD3F7B}"/>
              </a:ext>
            </a:extLst>
          </p:cNvPr>
          <p:cNvSpPr txBox="1"/>
          <p:nvPr/>
        </p:nvSpPr>
        <p:spPr>
          <a:xfrm>
            <a:off x="5005633" y="3779854"/>
            <a:ext cx="2743199" cy="584775"/>
          </a:xfrm>
          <a:prstGeom prst="rect">
            <a:avLst/>
          </a:prstGeom>
          <a:noFill/>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LAND COVER LOSS</a:t>
            </a:r>
          </a:p>
          <a:p>
            <a:endParaRPr lang="en-IN" dirty="0"/>
          </a:p>
        </p:txBody>
      </p:sp>
      <p:sp>
        <p:nvSpPr>
          <p:cNvPr id="17" name="TextBox 16">
            <a:extLst>
              <a:ext uri="{FF2B5EF4-FFF2-40B4-BE49-F238E27FC236}">
                <a16:creationId xmlns:a16="http://schemas.microsoft.com/office/drawing/2014/main" id="{0541FFD7-7E15-AA3F-402F-0BA099D15DB6}"/>
              </a:ext>
            </a:extLst>
          </p:cNvPr>
          <p:cNvSpPr txBox="1"/>
          <p:nvPr/>
        </p:nvSpPr>
        <p:spPr>
          <a:xfrm>
            <a:off x="966271" y="3764591"/>
            <a:ext cx="2743199" cy="584775"/>
          </a:xfrm>
          <a:prstGeom prst="rect">
            <a:avLst/>
          </a:prstGeom>
          <a:noFill/>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FOREST LOSS</a:t>
            </a:r>
          </a:p>
          <a:p>
            <a:endParaRPr lang="en-IN" dirty="0"/>
          </a:p>
        </p:txBody>
      </p:sp>
      <p:sp>
        <p:nvSpPr>
          <p:cNvPr id="18" name="TextBox 17">
            <a:extLst>
              <a:ext uri="{FF2B5EF4-FFF2-40B4-BE49-F238E27FC236}">
                <a16:creationId xmlns:a16="http://schemas.microsoft.com/office/drawing/2014/main" id="{1AB72693-DB41-1FC0-6C70-B0D6AF94E19B}"/>
              </a:ext>
            </a:extLst>
          </p:cNvPr>
          <p:cNvSpPr txBox="1"/>
          <p:nvPr/>
        </p:nvSpPr>
        <p:spPr>
          <a:xfrm>
            <a:off x="7024540" y="6313767"/>
            <a:ext cx="2743199" cy="584775"/>
          </a:xfrm>
          <a:prstGeom prst="rect">
            <a:avLst/>
          </a:prstGeom>
          <a:noFill/>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WATER OCCURRENCE</a:t>
            </a:r>
          </a:p>
          <a:p>
            <a:endParaRPr lang="en-IN" dirty="0"/>
          </a:p>
        </p:txBody>
      </p:sp>
      <p:sp>
        <p:nvSpPr>
          <p:cNvPr id="19" name="TextBox 18">
            <a:extLst>
              <a:ext uri="{FF2B5EF4-FFF2-40B4-BE49-F238E27FC236}">
                <a16:creationId xmlns:a16="http://schemas.microsoft.com/office/drawing/2014/main" id="{B5BF373A-F657-83FA-6890-6B6B41188091}"/>
              </a:ext>
            </a:extLst>
          </p:cNvPr>
          <p:cNvSpPr txBox="1"/>
          <p:nvPr/>
        </p:nvSpPr>
        <p:spPr>
          <a:xfrm>
            <a:off x="2924592" y="6282356"/>
            <a:ext cx="2743199" cy="584775"/>
          </a:xfrm>
          <a:prstGeom prst="rect">
            <a:avLst/>
          </a:prstGeom>
          <a:noFill/>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SOIL CARBON</a:t>
            </a:r>
          </a:p>
          <a:p>
            <a:endParaRPr lang="en-IN" dirty="0"/>
          </a:p>
        </p:txBody>
      </p:sp>
    </p:spTree>
    <p:extLst>
      <p:ext uri="{BB962C8B-B14F-4D97-AF65-F5344CB8AC3E}">
        <p14:creationId xmlns:p14="http://schemas.microsoft.com/office/powerpoint/2010/main" val="4024791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02594-3D62-0EF1-5403-FC2983A35F2A}"/>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DATASET PAIRS</a:t>
            </a:r>
          </a:p>
        </p:txBody>
      </p:sp>
      <p:sp>
        <p:nvSpPr>
          <p:cNvPr id="3" name="Content Placeholder 2">
            <a:extLst>
              <a:ext uri="{FF2B5EF4-FFF2-40B4-BE49-F238E27FC236}">
                <a16:creationId xmlns:a16="http://schemas.microsoft.com/office/drawing/2014/main" id="{1F9B8BAE-DF77-038B-8239-FA514CAC86A1}"/>
              </a:ext>
            </a:extLst>
          </p:cNvPr>
          <p:cNvSpPr>
            <a:spLocks noGrp="1"/>
          </p:cNvSpPr>
          <p:nvPr>
            <p:ph idx="1"/>
          </p:nvPr>
        </p:nvSpPr>
        <p:spPr>
          <a:xfrm>
            <a:off x="424206" y="1564849"/>
            <a:ext cx="11425287" cy="4928026"/>
          </a:xfrm>
        </p:spPr>
        <p:txBody>
          <a:bodyPr>
            <a:normAutofit fontScale="85000" lnSpcReduction="20000"/>
          </a:bodyPr>
          <a:lstStyle/>
          <a:p>
            <a:pPr marL="0" indent="0">
              <a:buNone/>
            </a:pPr>
            <a:r>
              <a:rPr lang="en-IN" dirty="0"/>
              <a:t>The dataset pairs are paired into 3 pairs. They are divided as Input → Target</a:t>
            </a:r>
          </a:p>
          <a:p>
            <a:r>
              <a:rPr lang="en-IN" dirty="0"/>
              <a:t>Land_cover_loss.png → Forest_loss.png</a:t>
            </a:r>
          </a:p>
          <a:p>
            <a:pPr marL="0" indent="0">
              <a:buNone/>
            </a:pPr>
            <a:r>
              <a:rPr lang="en-IN" dirty="0"/>
              <a:t>	</a:t>
            </a:r>
            <a:r>
              <a:rPr lang="en-IN" b="1" dirty="0"/>
              <a:t>Goal</a:t>
            </a:r>
            <a:r>
              <a:rPr lang="en-IN" dirty="0"/>
              <a:t>: Predict forest degradation based on changes in land cover.</a:t>
            </a:r>
          </a:p>
          <a:p>
            <a:endParaRPr lang="en-IN" dirty="0"/>
          </a:p>
          <a:p>
            <a:r>
              <a:rPr lang="en-IN" dirty="0"/>
              <a:t>Soil_carbon.png → Water_occurrence.png</a:t>
            </a:r>
          </a:p>
          <a:p>
            <a:pPr marL="0" indent="0">
              <a:buNone/>
            </a:pPr>
            <a:r>
              <a:rPr lang="en-IN" dirty="0"/>
              <a:t> 	</a:t>
            </a:r>
            <a:r>
              <a:rPr lang="en-IN" b="1" dirty="0"/>
              <a:t>Goal</a:t>
            </a:r>
            <a:r>
              <a:rPr lang="en-IN" dirty="0"/>
              <a:t>: Predict water-related degradation from soil carbon patterns.</a:t>
            </a:r>
          </a:p>
          <a:p>
            <a:endParaRPr lang="en-IN" dirty="0"/>
          </a:p>
          <a:p>
            <a:r>
              <a:rPr lang="en-IN" dirty="0"/>
              <a:t>Mean_temperature.png → Forest_loss.png</a:t>
            </a:r>
          </a:p>
          <a:p>
            <a:pPr marL="0" indent="0">
              <a:buNone/>
            </a:pPr>
            <a:r>
              <a:rPr lang="en-IN" dirty="0"/>
              <a:t>	</a:t>
            </a:r>
            <a:r>
              <a:rPr lang="en-IN" b="1" dirty="0"/>
              <a:t>Goal</a:t>
            </a:r>
            <a:r>
              <a:rPr lang="en-IN" dirty="0"/>
              <a:t>: Predict forest degradation based on temperature anomalies.</a:t>
            </a:r>
            <a:br>
              <a:rPr lang="en-IN" dirty="0"/>
            </a:br>
            <a:r>
              <a:rPr lang="en-IN" dirty="0"/>
              <a:t>			</a:t>
            </a:r>
            <a:r>
              <a:rPr lang="en-US" dirty="0">
                <a:latin typeface="Times New Roman" panose="02020603050405020304" pitchFamily="18" charset="0"/>
                <a:cs typeface="Times New Roman" panose="02020603050405020304" pitchFamily="18" charset="0"/>
              </a:rPr>
              <a:t>The dataset pairs were chosen to explore causal or correlational relationships between environmental factors (inputs) and their ecological impacts (targets). By training GenAI models on these pairs, the goal is to predict key habitat degradation indicators from related environmental variables, enabling more informed and data-driven habitat restoration planning.</a:t>
            </a:r>
            <a:r>
              <a:rPr lang="en-IN" dirty="0">
                <a:latin typeface="Times New Roman" panose="02020603050405020304" pitchFamily="18" charset="0"/>
                <a:cs typeface="Times New Roman" panose="02020603050405020304" pitchFamily="18" charset="0"/>
              </a:rPr>
              <a:t> </a:t>
            </a:r>
          </a:p>
          <a:p>
            <a:pPr marL="0" indent="0">
              <a:buNone/>
            </a:pPr>
            <a:endParaRPr lang="en-IN" dirty="0"/>
          </a:p>
        </p:txBody>
      </p:sp>
    </p:spTree>
    <p:extLst>
      <p:ext uri="{BB962C8B-B14F-4D97-AF65-F5344CB8AC3E}">
        <p14:creationId xmlns:p14="http://schemas.microsoft.com/office/powerpoint/2010/main" val="2759298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5A8DC-0FAF-BB55-8AC4-D2457BB1AD3D}"/>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PROJECT OVERVIEW</a:t>
            </a:r>
          </a:p>
        </p:txBody>
      </p:sp>
      <p:sp>
        <p:nvSpPr>
          <p:cNvPr id="3" name="Content Placeholder 2">
            <a:extLst>
              <a:ext uri="{FF2B5EF4-FFF2-40B4-BE49-F238E27FC236}">
                <a16:creationId xmlns:a16="http://schemas.microsoft.com/office/drawing/2014/main" id="{2FE905E0-C532-E457-CCE9-496ABD04246F}"/>
              </a:ext>
            </a:extLst>
          </p:cNvPr>
          <p:cNvSpPr>
            <a:spLocks noGrp="1"/>
          </p:cNvSpPr>
          <p:nvPr>
            <p:ph idx="1"/>
          </p:nvPr>
        </p:nvSpPr>
        <p:spPr>
          <a:xfrm>
            <a:off x="452487" y="1508289"/>
            <a:ext cx="10901313" cy="4668674"/>
          </a:xfrm>
        </p:spPr>
        <p:txBody>
          <a:bodyPr/>
          <a:lstStyle/>
          <a:p>
            <a:r>
              <a:rPr lang="en-IN" dirty="0"/>
              <a:t>The datasets are sliced into 16 individual pixels.</a:t>
            </a:r>
          </a:p>
          <a:p>
            <a:r>
              <a:rPr lang="en-IN" dirty="0"/>
              <a:t>The 16 pixels are trained using </a:t>
            </a:r>
            <a:r>
              <a:rPr lang="en-IN" b="1" dirty="0"/>
              <a:t>Pix2Pix GAN</a:t>
            </a:r>
            <a:r>
              <a:rPr lang="en-IN" dirty="0"/>
              <a:t>.</a:t>
            </a:r>
          </a:p>
          <a:p>
            <a:r>
              <a:rPr lang="en-IN" dirty="0"/>
              <a:t>After training, the 16 pixels are stitched to form a full region map.</a:t>
            </a:r>
          </a:p>
          <a:p>
            <a:r>
              <a:rPr lang="en-IN" dirty="0"/>
              <a:t>Stitching leads to the formation of gridlines across the map.</a:t>
            </a:r>
          </a:p>
          <a:p>
            <a:r>
              <a:rPr lang="en-IN" dirty="0"/>
              <a:t>This gridlines can be reduced by using gen ai techniques like </a:t>
            </a:r>
            <a:r>
              <a:rPr lang="en-IN" b="1" dirty="0"/>
              <a:t>Conditional Diffusion Models</a:t>
            </a:r>
            <a:r>
              <a:rPr lang="en-IN" dirty="0"/>
              <a:t>.</a:t>
            </a:r>
          </a:p>
          <a:p>
            <a:r>
              <a:rPr lang="en-IN" dirty="0"/>
              <a:t>Then the 3 outputs generated from the Conditional Diffusion are used to generate a restoration map using a U-Net neural network a supervised learning form of </a:t>
            </a:r>
            <a:r>
              <a:rPr lang="en-IN" b="1" dirty="0"/>
              <a:t>Convolution Neural Network</a:t>
            </a:r>
            <a:r>
              <a:rPr lang="en-IN" dirty="0"/>
              <a:t>.</a:t>
            </a:r>
          </a:p>
          <a:p>
            <a:pPr marL="0" indent="0">
              <a:buNone/>
            </a:pPr>
            <a:endParaRPr lang="en-IN" dirty="0"/>
          </a:p>
        </p:txBody>
      </p:sp>
    </p:spTree>
    <p:extLst>
      <p:ext uri="{BB962C8B-B14F-4D97-AF65-F5344CB8AC3E}">
        <p14:creationId xmlns:p14="http://schemas.microsoft.com/office/powerpoint/2010/main" val="1907597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D790C-D44D-6203-264A-2EDE64CD15BB}"/>
              </a:ext>
            </a:extLst>
          </p:cNvPr>
          <p:cNvSpPr>
            <a:spLocks noGrp="1"/>
          </p:cNvSpPr>
          <p:nvPr>
            <p:ph type="title"/>
          </p:nvPr>
        </p:nvSpPr>
        <p:spPr/>
        <p:txBody>
          <a:bodyPr/>
          <a:lstStyle/>
          <a:p>
            <a:pPr algn="ctr"/>
            <a:r>
              <a:rPr lang="en-IN" b="1" dirty="0"/>
              <a:t>STREAMLIT</a:t>
            </a:r>
          </a:p>
        </p:txBody>
      </p:sp>
      <p:sp>
        <p:nvSpPr>
          <p:cNvPr id="3" name="Content Placeholder 2">
            <a:extLst>
              <a:ext uri="{FF2B5EF4-FFF2-40B4-BE49-F238E27FC236}">
                <a16:creationId xmlns:a16="http://schemas.microsoft.com/office/drawing/2014/main" id="{D451C117-3081-ADEC-E3F9-AA96328319FF}"/>
              </a:ext>
            </a:extLst>
          </p:cNvPr>
          <p:cNvSpPr>
            <a:spLocks noGrp="1"/>
          </p:cNvSpPr>
          <p:nvPr>
            <p:ph idx="1"/>
          </p:nvPr>
        </p:nvSpPr>
        <p:spPr/>
        <p:txBody>
          <a:bodyPr/>
          <a:lstStyle/>
          <a:p>
            <a:r>
              <a:rPr lang="en-US" dirty="0"/>
              <a:t>An interactive </a:t>
            </a:r>
            <a:r>
              <a:rPr lang="en-US" dirty="0" err="1"/>
              <a:t>Streamlit</a:t>
            </a:r>
            <a:r>
              <a:rPr lang="en-US" dirty="0"/>
              <a:t> app to visualize dataset pairs, diffusion outputs, and restoration maps for habitat analysis is developed.</a:t>
            </a:r>
          </a:p>
          <a:p>
            <a:r>
              <a:rPr lang="en-US" dirty="0"/>
              <a:t>It also estimates and highlights restorable areas with automated overlay and percentage calculations for better decision-making</a:t>
            </a:r>
            <a:endParaRPr lang="en-IN" dirty="0"/>
          </a:p>
        </p:txBody>
      </p:sp>
    </p:spTree>
    <p:extLst>
      <p:ext uri="{BB962C8B-B14F-4D97-AF65-F5344CB8AC3E}">
        <p14:creationId xmlns:p14="http://schemas.microsoft.com/office/powerpoint/2010/main" val="134326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841D0A-31A8-C064-F37E-DEF7A1842F1E}"/>
              </a:ext>
            </a:extLst>
          </p:cNvPr>
          <p:cNvSpPr txBox="1"/>
          <p:nvPr/>
        </p:nvSpPr>
        <p:spPr>
          <a:xfrm>
            <a:off x="2771480" y="2837468"/>
            <a:ext cx="7211506" cy="707886"/>
          </a:xfrm>
          <a:prstGeom prst="rect">
            <a:avLst/>
          </a:prstGeom>
          <a:noFill/>
        </p:spPr>
        <p:txBody>
          <a:bodyPr wrap="square" rtlCol="0">
            <a:spAutoFit/>
          </a:bodyPr>
          <a:lstStyle/>
          <a:p>
            <a:pPr algn="ctr"/>
            <a:r>
              <a:rPr lang="en-IN" sz="4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7368534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TotalTime>
  <Words>485</Words>
  <Application>Microsoft Office PowerPoint</Application>
  <PresentationFormat>Widescreen</PresentationFormat>
  <Paragraphs>47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GEN AI DRIVEN HABITAT RESTORATION OF A SPECIFIC REGION (Madagascar)</vt:lpstr>
      <vt:lpstr>INTRODUCTION</vt:lpstr>
      <vt:lpstr>MOTIVATION</vt:lpstr>
      <vt:lpstr>OBJECTIVE</vt:lpstr>
      <vt:lpstr>DATASETS</vt:lpstr>
      <vt:lpstr>DATASET PAIRS</vt:lpstr>
      <vt:lpstr>PROJECT OVERVIEW</vt:lpstr>
      <vt:lpstr>STREAMLIT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logavarshini26082023@outlook.com</dc:creator>
  <cp:lastModifiedBy>logavarshini26082023@outlook.com</cp:lastModifiedBy>
  <cp:revision>3</cp:revision>
  <dcterms:created xsi:type="dcterms:W3CDTF">2025-05-05T20:12:41Z</dcterms:created>
  <dcterms:modified xsi:type="dcterms:W3CDTF">2025-05-06T06:00:18Z</dcterms:modified>
</cp:coreProperties>
</file>